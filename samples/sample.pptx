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  <p:extLst>
    <p:ext uri="{521415D9-36F7-43E2-AB2F-B90AF26B5E84}">
      <p14:sectionLst xmlns:p14="http://schemas.microsoft.com/office/powerpoint/2010/main">
        <p14:section name="Introduction" id="{C340DD12-9B38-4A7C-8A37-01FD178F515F}">
          <p14:sldIdLst>
            <p14:sldId id="256"/>
            <p14:sldId id="257"/>
          </p14:sldIdLst>
        </p14:section>
        <p14:section name="Science" id="{11D6B20E-1A9E-463D-8C8C-F533F4E4BEFC}">
          <p14:sldIdLst>
            <p14:sldId id="258"/>
            <p14:sldId id="259"/>
            <p14:sldId id="260"/>
          </p14:sldIdLst>
        </p14:section>
        <p14:section name="In the Field" id="{AF364115-CCC2-43FA-8CF0-3201B8B21099}">
          <p14:sldIdLst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heme" Target="theme/theme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title>
      <c:tx>
        <c:rich>
          <a:bodyPr/>
          <a:lstStyle/>
          <a:p>
            <a:r>
              <a:t>Average clear, dark nights per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Tromsø</c:v>
                </c:pt>
              </c:strCache>
            </c:strRef>
          </c:tx>
          <c:invertIfNegative val="0"/>
          <c:cat>
            <c:strRef>
              <c:f>Sheet1!$A$2:$A$8</c:f>
              <c:strCache>
                <c:ptCount val="7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7</c:v>
                </c:pt>
                <c:pt idx="5">
                  <c:v>9</c:v>
                </c:pt>
                <c:pt idx="6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Fairbanks</c:v>
                </c:pt>
              </c:strCache>
            </c:strRef>
          </c:tx>
          <c:invertIfNegative val="0"/>
          <c:cat>
            <c:strRef>
              <c:f>Sheet1!$A$2:$A$8</c:f>
              <c:strCache>
                <c:ptCount val="7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</c:v>
                </c:pt>
                <c:pt idx="1">
                  <c:v>10</c:v>
                </c:pt>
                <c:pt idx="2">
                  <c:v>8</c:v>
                </c:pt>
                <c:pt idx="3">
                  <c:v>9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Yellowknife</c:v>
                </c:pt>
              </c:strCache>
            </c:strRef>
          </c:tx>
          <c:invertIfNegative val="0"/>
          <c:cat>
            <c:strRef>
              <c:f>Sheet1!$A$2:$A$8</c:f>
              <c:strCache>
                <c:ptCount val="7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</c:v>
                </c:pt>
                <c:pt idx="1">
                  <c:v>11</c:v>
                </c:pt>
                <c:pt idx="2">
                  <c:v>9</c:v>
                </c:pt>
                <c:pt idx="3">
                  <c:v>10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</c:numCache>
            </c:numRef>
          </c:val>
        </c:ser>
        <c:gapWidth val="219"/>
        <c:overlap val="-27"/>
        <c:axId val="50001"/>
        <c:axId val="50002"/>
      </c:barChart>
      <c:catAx>
        <c:axId val="5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02"/>
        <c:crosses val="autoZero"/>
        <c:auto val="1"/>
        <c:lblAlgn val="ctr"/>
        <c:lblOffset val="100"/>
        <c:noMultiLvlLbl val="0"/>
      </c:catAx>
      <c:valAx>
        <c:axId val="50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0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Welcome everyone. This deck was made in DeckCraft.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/>
              <a:t>Northern Lights</a:t>
            </a:r>
          </a:p>
        </p:txBody>
      </p:sp>
      <p:sp>
        <p:nvSpPr>
          <p:cNvPr id="259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/>
          <a:lstStyle/>
          <a:p>
            <a:r>
              <a:rPr/>
              <a:t>A short tour of the aurora — where it comes from, when to look, and how to photograph it</a:t>
            </a:r>
          </a:p>
        </p:txBody>
      </p:sp>
      <p:sp>
        <p:nvSpPr>
          <p:cNvPr id="260" name="Aurora Band"/>
          <p:cNvSpPr/>
          <p:nvPr/>
        </p:nvSpPr>
        <p:spPr>
          <a:xfrm>
            <a:off x="0" y="5969000"/>
            <a:ext cx="12192000" cy="889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4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What we'll cover</a:t>
            </a:r>
          </a:p>
        </p:txBody>
      </p:sp>
      <p:sp>
        <p:nvSpPr>
          <p:cNvPr id="263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The science: solar wind meets the magnetosphere</a:t>
            </a:r>
          </a:p>
          <a:p>
            <a:r>
              <a:rPr/>
              <a:t>Where and when to see it</a:t>
            </a:r>
          </a:p>
          <a:p>
            <a:pPr lvl="1"/>
            <a:r>
              <a:rPr/>
              <a:t>High latitudes, dark skies, long winter nights</a:t>
            </a:r>
          </a:p>
          <a:p>
            <a:pPr lvl="1"/>
            <a:r>
              <a:rPr/>
              <a:t>Kp index and space-weather forecasts</a:t>
            </a:r>
          </a:p>
          <a:p>
            <a:r>
              <a:rPr/>
              <a:t>Photographing the aurora</a:t>
            </a:r>
          </a:p>
          <a:p>
            <a:r>
              <a:rPr/>
              <a:t>Safety and etiquette in the field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/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 fill="hold"/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FFFFFF"/>
                </a:solidFill>
              </a:rPr>
              <a:t>The Science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6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FFFFFF"/>
                </a:solidFill>
              </a:rPr>
              <a:t>Charged particles, magnetic fields and glowing gases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</p:transition>
    </mc:Choice>
    <mc:Fallback>
      <p:transition spd="slow">
        <p:wipe dir="r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From the Sun to your sky</a:t>
            </a:r>
          </a:p>
        </p:txBody>
      </p:sp>
      <p:sp>
        <p:nvSpPr>
          <p:cNvPr id="269" name="Rectangle 2"/>
          <p:cNvSpPr/>
          <p:nvPr/>
        </p:nvSpPr>
        <p:spPr>
          <a:xfrm>
            <a:off x="762000" y="2667000"/>
            <a:ext cx="2413000" cy="15240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700" b="1"/>
              <a:t>Solar wind</a:t>
            </a:r>
            <a:endParaRPr sz="1700" b="1"/>
          </a:p>
        </p:txBody>
      </p:sp>
      <p:sp>
        <p:nvSpPr>
          <p:cNvPr id="270" name="Rectangle 3"/>
          <p:cNvSpPr/>
          <p:nvPr/>
        </p:nvSpPr>
        <p:spPr>
          <a:xfrm>
            <a:off x="3556000" y="2667000"/>
            <a:ext cx="2413000" cy="15240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700" b="1"/>
              <a:t>Magnetosphere</a:t>
            </a:r>
            <a:endParaRPr sz="1700" b="1"/>
          </a:p>
        </p:txBody>
      </p:sp>
      <p:sp>
        <p:nvSpPr>
          <p:cNvPr id="271" name="Arrow 4"/>
          <p:cNvSpPr/>
          <p:nvPr/>
        </p:nvSpPr>
        <p:spPr>
          <a:xfrm>
            <a:off x="3098800" y="3238500"/>
            <a:ext cx="406400" cy="38100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2" name="Rectangle 5"/>
          <p:cNvSpPr/>
          <p:nvPr/>
        </p:nvSpPr>
        <p:spPr>
          <a:xfrm>
            <a:off x="6350000" y="2667000"/>
            <a:ext cx="2413000" cy="15240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700" b="1"/>
              <a:t>Particles collide</a:t>
            </a:r>
            <a:endParaRPr sz="1700" b="1"/>
          </a:p>
        </p:txBody>
      </p:sp>
      <p:sp>
        <p:nvSpPr>
          <p:cNvPr id="273" name="Arrow 6"/>
          <p:cNvSpPr/>
          <p:nvPr/>
        </p:nvSpPr>
        <p:spPr>
          <a:xfrm>
            <a:off x="5892800" y="3238500"/>
            <a:ext cx="406400" cy="38100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4" name="Star 7"/>
          <p:cNvSpPr/>
          <p:nvPr/>
        </p:nvSpPr>
        <p:spPr>
          <a:xfrm>
            <a:off x="9144000" y="2667000"/>
            <a:ext cx="2413000" cy="1524000"/>
          </a:xfrm>
          <a:prstGeom prst="star5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1700" b="1"/>
              <a:t>Light!</a:t>
            </a:r>
            <a:endParaRPr sz="1700" b="1"/>
          </a:p>
        </p:txBody>
      </p:sp>
      <p:sp>
        <p:nvSpPr>
          <p:cNvPr id="275" name="Arrow 8"/>
          <p:cNvSpPr/>
          <p:nvPr/>
        </p:nvSpPr>
        <p:spPr>
          <a:xfrm>
            <a:off x="8686800" y="3238500"/>
            <a:ext cx="406400" cy="38100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6" name="TextBox 9"/>
          <p:cNvSpPr txBox="1"/>
          <p:nvPr/>
        </p:nvSpPr>
        <p:spPr>
          <a:xfrm>
            <a:off x="762000" y="4826000"/>
            <a:ext cx="10668000" cy="396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000" i="1"/>
              <a:t>Oxygen glows green and red; nitrogen adds blue and purple fringes.</a:t>
            </a:r>
            <a:endParaRPr sz="2000" i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 fill="hold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fill="hold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fill="hold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/>
      <p:bldP spid="270" grpId="0" animBg="1"/>
      <p:bldP spid="272" grpId="0" animBg="1"/>
      <p:bldP spid="2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Best months to look (clear nights)</a:t>
            </a:r>
          </a:p>
        </p:txBody>
      </p:sp>
      <p:graphicFrame>
        <p:nvGraphicFramePr>
          <p:cNvPr id="279" name="Chart 2"/>
          <p:cNvGraphicFramePr>
            <a:graphicFrameLocks noGrp="1"/>
          </p:cNvGraphicFramePr>
          <p:nvPr/>
        </p:nvGraphicFramePr>
        <p:xfrm>
          <a:off x="1016000" y="1778000"/>
          <a:ext cx="10160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Camera settings that work</a:t>
            </a:r>
          </a:p>
        </p:txBody>
      </p:sp>
      <p:graphicFrame>
        <p:nvGraphicFramePr>
          <p:cNvPr id="282" name="Table 2"/>
          <p:cNvGraphicFramePr>
            <a:graphicFrameLocks noGrp="1"/>
          </p:cNvGraphicFramePr>
          <p:nvPr/>
        </p:nvGraphicFramePr>
        <p:xfrm>
          <a:off x="1270000" y="1905000"/>
          <a:ext cx="965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7333"/>
                <a:gridCol w="3217333"/>
                <a:gridCol w="3217333"/>
              </a:tblGrid>
              <a:tr h="660400">
                <a:tc>
                  <a:txBody>
                    <a:bodyPr/>
                    <a:lstStyle/>
                    <a:p>
                      <a:r>
                        <a:rPr/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Faint aurora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Bright, active aurora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/>
                        <a:t>Aperture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f/1.4 – f/2.8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f/2.8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/>
                        <a:t>Shutter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8 – 15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 – 4 s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/>
                        <a:t>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1600 – 3200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800 – 1600</a:t>
                      </a:r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Manual, on a bright 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Manual, on a bright star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l"/>
      </p:transition>
    </mc:Choice>
    <mc:Fallback>
      <p:transition spd="slow">
        <p:cover dir="l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Field checklist</a:t>
            </a:r>
          </a:p>
        </p:txBody>
      </p:sp>
      <p:sp>
        <p:nvSpPr>
          <p:cNvPr id="285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Bring</a:t>
            </a:r>
          </a:p>
          <a:p>
            <a:pPr lvl="1"/>
            <a:r>
              <a:rPr/>
              <a:t>Tripod and spare batteries</a:t>
            </a:r>
          </a:p>
          <a:p>
            <a:pPr lvl="1"/>
            <a:r>
              <a:rPr/>
              <a:t>Headlamp with a red mode</a:t>
            </a:r>
          </a:p>
          <a:p>
            <a:pPr lvl="1"/>
            <a:r>
              <a:rPr/>
              <a:t>Warm layers and a thermos</a:t>
            </a:r>
          </a:p>
        </p:txBody>
      </p:sp>
      <p:sp>
        <p:nvSpPr>
          <p:cNvPr id="286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/>
          <a:lstStyle/>
          <a:p>
            <a:r>
              <a:rPr/>
              <a:t>Remember</a:t>
            </a:r>
          </a:p>
          <a:p>
            <a:pPr lvl="1"/>
            <a:r>
              <a:rPr/>
              <a:t>Check the forecast and cloud cover</a:t>
            </a:r>
          </a:p>
          <a:p>
            <a:pPr lvl="1"/>
            <a:r>
              <a:rPr/>
              <a:t>Let your eyes adapt for 20 minutes</a:t>
            </a:r>
          </a:p>
          <a:p>
            <a:pPr lvl="1"/>
            <a:r>
              <a:rPr/>
              <a:t>Leave no trace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out"/>
      </p:transition>
    </mc:Choice>
    <mc:Fallback>
      <p:transition spd="slow">
        <p:split orient="vert" dir="ou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Clear skies!</a:t>
            </a:r>
          </a:p>
        </p:txBody>
      </p:sp>
      <p:sp>
        <p:nvSpPr>
          <p:cNvPr id="28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Made with DeckCraft — free and open source</a:t>
            </a:r>
          </a:p>
        </p:txBody>
      </p:sp>
      <p:sp>
        <p:nvSpPr>
          <p:cNvPr id="290" name="Moon 3"/>
          <p:cNvSpPr/>
          <p:nvPr/>
        </p:nvSpPr>
        <p:spPr>
          <a:xfrm>
            <a:off x="10414000" y="508000"/>
            <a:ext cx="1016000" cy="1524000"/>
          </a:xfrm>
          <a:prstGeom prst="moon">
            <a:avLst/>
          </a:prstGeom>
          <a:solidFill>
            <a:schemeClr val="accent6"/>
          </a:solidFill>
          <a:ln>
            <a:noFill/>
          </a:ln>
          <a:effectLst>
            <a:glow rad="127000">
              <a:schemeClr val="accent6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8</Slides>
  <Notes>1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